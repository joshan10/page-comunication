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E4C9975-76B9-4E4B-BDA4-C9A821B1B7E4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3BD29-7944-4725-A79C-D0BC7419C4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37E84-EEAD-45EE-876B-0D600E6142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A34D5-DE5E-49AA-9519-19DFB2B45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DFBBE9-D0B5-4FD6-9B4B-092A56BF08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02112D-F24B-4BA2-BB20-CD4A9C44F0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44E451-FF6C-41D9-B940-F698238F69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5E8D1-2EF8-4DBF-96FF-D4CE2EB8E1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1463040"/>
            <a:ext cx="4937400" cy="4937400"/>
          </a:xfrm>
          <a:prstGeom prst="ellipse">
            <a:avLst/>
          </a:prstGeom>
          <a:solidFill>
            <a:srgbClr val="F96167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291480" cy="3291480"/>
          </a:xfrm>
          <a:prstGeom prst="ellipse">
            <a:avLst/>
          </a:prstGeom>
          <a:solidFill>
            <a:srgbClr val="F9E795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9464040" y="502920"/>
            <a:ext cx="1919880" cy="19198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heart_white.png"/>
          <p:cNvPicPr/>
          <p:nvPr/>
        </p:nvPicPr>
        <p:blipFill>
          <a:blip r:embed="rId1"/>
          <a:stretch/>
        </p:blipFill>
        <p:spPr>
          <a:xfrm>
            <a:off x="9848160" y="887040"/>
            <a:ext cx="1151640" cy="115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3"/>
          <p:cNvSpPr/>
          <p:nvPr/>
        </p:nvSpPr>
        <p:spPr>
          <a:xfrm>
            <a:off x="640080" y="548640"/>
            <a:ext cx="822600" cy="822600"/>
          </a:xfrm>
          <a:prstGeom prst="ellipse">
            <a:avLst/>
          </a:prstGeom>
          <a:solidFill>
            <a:srgbClr val="3C4A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icons/comment_white.png"/>
          <p:cNvPicPr/>
          <p:nvPr/>
        </p:nvPicPr>
        <p:blipFill>
          <a:blip r:embed="rId2"/>
          <a:stretch/>
        </p:blipFill>
        <p:spPr>
          <a:xfrm>
            <a:off x="822960" y="7315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4"/>
          <p:cNvSpPr/>
          <p:nvPr/>
        </p:nvSpPr>
        <p:spPr>
          <a:xfrm>
            <a:off x="7589520" y="5029200"/>
            <a:ext cx="685440" cy="685440"/>
          </a:xfrm>
          <a:prstGeom prst="ellipse">
            <a:avLst/>
          </a:prstGeom>
          <a:solidFill>
            <a:srgbClr val="3C4A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2" descr="icons/exclaim_white.png"/>
          <p:cNvPicPr/>
          <p:nvPr/>
        </p:nvPicPr>
        <p:blipFill>
          <a:blip r:embed="rId3"/>
          <a:stretch/>
        </p:blipFill>
        <p:spPr>
          <a:xfrm>
            <a:off x="7754040" y="519372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5"/>
          <p:cNvSpPr/>
          <p:nvPr/>
        </p:nvSpPr>
        <p:spPr>
          <a:xfrm>
            <a:off x="640080" y="2286000"/>
            <a:ext cx="7497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FUNCIONES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DEL LENGUAJE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40080" y="429768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Función Emotiva o Expresiva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40080" y="59893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DEF"/>
                </a:solidFill>
                <a:effectLst/>
                <a:uFillTx/>
                <a:latin typeface="Calibri"/>
                <a:ea typeface="Calibri"/>
              </a:rPr>
              <a:t>David, Joshan, Emmanuel  ·  SENA — Centro de Servicios y Gestión Empresarial (CESGE)  ·  Regional Antioquia - 3406211</a:t>
            </a:r>
            <a:endParaRPr lang="es-CO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65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Las Funciones del Lenguaje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9144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Vision general de las seis funciones segun el elemento de la comunicacion en que se centran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548640" y="160020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1714680" y="1828800"/>
            <a:ext cx="914040" cy="9140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icons/info_white.png"/>
          <p:cNvPicPr/>
          <p:nvPr/>
        </p:nvPicPr>
        <p:blipFill>
          <a:blip r:embed="rId1"/>
          <a:stretch/>
        </p:blipFill>
        <p:spPr>
          <a:xfrm>
            <a:off x="1915560" y="203004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4"/>
          <p:cNvSpPr/>
          <p:nvPr/>
        </p:nvSpPr>
        <p:spPr>
          <a:xfrm>
            <a:off x="685800" y="2834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Referencial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85800" y="32004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Foco: Contexto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731520" y="3456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Informar objetivamente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4023360" y="160020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9616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990011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5189400" y="182880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" descr="icons/heart_coral.png"/>
          <p:cNvPicPr/>
          <p:nvPr/>
        </p:nvPicPr>
        <p:blipFill>
          <a:blip r:embed="rId2"/>
          <a:stretch/>
        </p:blipFill>
        <p:spPr>
          <a:xfrm>
            <a:off x="5390280" y="203004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9"/>
          <p:cNvSpPr/>
          <p:nvPr/>
        </p:nvSpPr>
        <p:spPr>
          <a:xfrm>
            <a:off x="4160520" y="2834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Emotiva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4160520" y="32004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Foco: Emisor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4206240" y="3456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3F2"/>
                </a:solidFill>
                <a:effectLst/>
                <a:uFillTx/>
                <a:latin typeface="Calibri"/>
                <a:ea typeface="Calibri"/>
              </a:rPr>
              <a:t>Expresar sentimientos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498080" y="160020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8664120" y="1828800"/>
            <a:ext cx="914040" cy="9140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2" descr="icons/bullhorn_white.png"/>
          <p:cNvPicPr/>
          <p:nvPr/>
        </p:nvPicPr>
        <p:blipFill>
          <a:blip r:embed="rId3"/>
          <a:stretch/>
        </p:blipFill>
        <p:spPr>
          <a:xfrm>
            <a:off x="8865000" y="203004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7635240" y="283464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Conativa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7635240" y="320040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Foco: Receptor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7680960" y="345636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Persuadir u ordenar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548640" y="416052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1714680" y="4389120"/>
            <a:ext cx="914040" cy="9140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3" descr="icons/link_white.png"/>
          <p:cNvPicPr/>
          <p:nvPr/>
        </p:nvPicPr>
        <p:blipFill>
          <a:blip r:embed="rId4"/>
          <a:stretch/>
        </p:blipFill>
        <p:spPr>
          <a:xfrm>
            <a:off x="1915560" y="45903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685800" y="53949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Fatica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85800" y="576072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Foco: Canal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731520" y="601668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Mantener el contacto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4023360" y="416052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5189400" y="4389120"/>
            <a:ext cx="914040" cy="9140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4" descr="icons/book_white.png"/>
          <p:cNvPicPr/>
          <p:nvPr/>
        </p:nvPicPr>
        <p:blipFill>
          <a:blip r:embed="rId5"/>
          <a:stretch/>
        </p:blipFill>
        <p:spPr>
          <a:xfrm>
            <a:off x="5390280" y="45903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4"/>
          <p:cNvSpPr/>
          <p:nvPr/>
        </p:nvSpPr>
        <p:spPr>
          <a:xfrm>
            <a:off x="4160520" y="53949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Metalinguistica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4160520" y="576072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Foco: Codigo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4206240" y="601668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Hablar del lenguaje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7498080" y="4160520"/>
            <a:ext cx="3245760" cy="2285640"/>
          </a:xfrm>
          <a:prstGeom prst="roundRect">
            <a:avLst>
              <a:gd name="adj" fmla="val 4800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8664120" y="4389120"/>
            <a:ext cx="914040" cy="91404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5" descr="icons/feather_white.png"/>
          <p:cNvPicPr/>
          <p:nvPr/>
        </p:nvPicPr>
        <p:blipFill>
          <a:blip r:embed="rId6"/>
          <a:stretch/>
        </p:blipFill>
        <p:spPr>
          <a:xfrm>
            <a:off x="8865000" y="4590360"/>
            <a:ext cx="51156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9"/>
          <p:cNvSpPr/>
          <p:nvPr/>
        </p:nvSpPr>
        <p:spPr>
          <a:xfrm>
            <a:off x="7635240" y="53949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Poetica</a:t>
            </a:r>
            <a:endParaRPr lang="es-CO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0"/>
          <p:cNvSpPr/>
          <p:nvPr/>
        </p:nvSpPr>
        <p:spPr>
          <a:xfrm>
            <a:off x="7635240" y="576072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Foco: Mensaje</a:t>
            </a:r>
            <a:endParaRPr lang="es-CO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7680960" y="601668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Cuidar la forma / estetica</a:t>
            </a:r>
            <a:endParaRPr lang="es-CO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-1188720" y="-1188720"/>
            <a:ext cx="3840120" cy="3840120"/>
          </a:xfrm>
          <a:prstGeom prst="ellipse">
            <a:avLst/>
          </a:prstGeom>
          <a:solidFill>
            <a:srgbClr val="3C4A9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1234440" y="2331720"/>
            <a:ext cx="2102760" cy="210276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icons/heart_white.png"/>
          <p:cNvPicPr/>
          <p:nvPr/>
        </p:nvPicPr>
        <p:blipFill>
          <a:blip r:embed="rId1"/>
          <a:stretch/>
        </p:blipFill>
        <p:spPr>
          <a:xfrm>
            <a:off x="1691640" y="2788920"/>
            <a:ext cx="1188360" cy="11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3"/>
          <p:cNvSpPr/>
          <p:nvPr/>
        </p:nvSpPr>
        <p:spPr>
          <a:xfrm>
            <a:off x="274320" y="48920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9E795"/>
                </a:solidFill>
                <a:effectLst/>
                <a:uFillTx/>
                <a:latin typeface="Bookman Old Style"/>
                <a:ea typeface="Bookman Old Style"/>
              </a:rPr>
              <a:t>EMISOR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274320" y="534924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C7CDEF"/>
                </a:solidFill>
                <a:effectLst/>
                <a:uFillTx/>
                <a:latin typeface="Calibri"/>
                <a:ea typeface="Calibri"/>
              </a:rPr>
              <a:t>el centro de esta funcion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4937760" y="457200"/>
            <a:ext cx="6674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¿Que es la Funcion Emotiva?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4937760" y="1051560"/>
            <a:ext cx="667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96167"/>
                </a:solidFill>
                <a:effectLst/>
                <a:uFillTx/>
                <a:latin typeface="Calibri"/>
                <a:ea typeface="Calibri"/>
              </a:rPr>
              <a:t>Tambien llamada funcion expresiva o sintomatica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4937760" y="1783080"/>
            <a:ext cx="502560" cy="502560"/>
          </a:xfrm>
          <a:prstGeom prst="ellipse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icons/check_coral.png"/>
          <p:cNvPicPr/>
          <p:nvPr/>
        </p:nvPicPr>
        <p:blipFill>
          <a:blip r:embed="rId2"/>
          <a:stretch/>
        </p:blipFill>
        <p:spPr>
          <a:xfrm>
            <a:off x="5047560" y="18928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8"/>
          <p:cNvSpPr/>
          <p:nvPr/>
        </p:nvSpPr>
        <p:spPr>
          <a:xfrm>
            <a:off x="5623560" y="175572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Se centra en el emisor, es decir, en quien produce el mensaje.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4937760" y="2834640"/>
            <a:ext cx="502560" cy="502560"/>
          </a:xfrm>
          <a:prstGeom prst="ellipse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2" descr="icons/check_coral.png"/>
          <p:cNvPicPr/>
          <p:nvPr/>
        </p:nvPicPr>
        <p:blipFill>
          <a:blip r:embed="rId3"/>
          <a:stretch/>
        </p:blipFill>
        <p:spPr>
          <a:xfrm>
            <a:off x="5047560" y="294444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10"/>
          <p:cNvSpPr/>
          <p:nvPr/>
        </p:nvSpPr>
        <p:spPr>
          <a:xfrm>
            <a:off x="5623560" y="280728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Da a conocer sentimientos, emociones, deseos y estados de animo de quien habla.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4937760" y="3886200"/>
            <a:ext cx="502560" cy="502560"/>
          </a:xfrm>
          <a:prstGeom prst="ellipse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3" descr="icons/check_coral.png"/>
          <p:cNvPicPr/>
          <p:nvPr/>
        </p:nvPicPr>
        <p:blipFill>
          <a:blip r:embed="rId4"/>
          <a:stretch/>
        </p:blipFill>
        <p:spPr>
          <a:xfrm>
            <a:off x="5047560" y="399600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2"/>
          <p:cNvSpPr/>
          <p:nvPr/>
        </p:nvSpPr>
        <p:spPr>
          <a:xfrm>
            <a:off x="5623560" y="385884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El mensaje refleja una actitud subjetiva frente a lo que se comunica.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4937760" y="4937760"/>
            <a:ext cx="502560" cy="502560"/>
          </a:xfrm>
          <a:prstGeom prst="ellipse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4" descr="icons/check_coral.png"/>
          <p:cNvPicPr/>
          <p:nvPr/>
        </p:nvPicPr>
        <p:blipFill>
          <a:blip r:embed="rId5"/>
          <a:stretch/>
        </p:blipFill>
        <p:spPr>
          <a:xfrm>
            <a:off x="5047560" y="504756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14"/>
          <p:cNvSpPr/>
          <p:nvPr/>
        </p:nvSpPr>
        <p:spPr>
          <a:xfrm>
            <a:off x="5623560" y="4910400"/>
            <a:ext cx="594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B2B2B"/>
                </a:solidFill>
                <a:effectLst/>
                <a:uFillTx/>
                <a:latin typeface="Calibri"/>
                <a:ea typeface="Calibri"/>
              </a:rPr>
              <a:t>Predomina el uso de la primera persona gramatical (yo, mi, nosotros).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48640" y="3657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Recursos Linguisticos de la Funcion Emotiva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48640" y="9144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B6B6B"/>
                </a:solidFill>
                <a:effectLst/>
                <a:uFillTx/>
                <a:latin typeface="Calibri"/>
                <a:ea typeface="Calibri"/>
              </a:rPr>
              <a:t>Marcas que permiten identificarla en un texto o discurso</a:t>
            </a:r>
            <a:endParaRPr lang="es-CO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548640" y="155448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777240" y="1783080"/>
            <a:ext cx="776880" cy="7768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 0" descr="icons/exclaim_white.png"/>
          <p:cNvPicPr/>
          <p:nvPr/>
        </p:nvPicPr>
        <p:blipFill>
          <a:blip r:embed="rId1"/>
          <a:stretch/>
        </p:blipFill>
        <p:spPr>
          <a:xfrm>
            <a:off x="941760" y="194760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 4"/>
          <p:cNvSpPr/>
          <p:nvPr/>
        </p:nvSpPr>
        <p:spPr>
          <a:xfrm>
            <a:off x="1691640" y="17557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Interjecciones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777240" y="2697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¡Ay!, ¡Oh!, ¡Uf!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4114800" y="155448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4343400" y="1783080"/>
            <a:ext cx="776880" cy="77688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1" descr="icons/user_white.png"/>
          <p:cNvPicPr/>
          <p:nvPr/>
        </p:nvPicPr>
        <p:blipFill>
          <a:blip r:embed="rId2"/>
          <a:stretch/>
        </p:blipFill>
        <p:spPr>
          <a:xfrm>
            <a:off x="4507920" y="194760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8"/>
          <p:cNvSpPr/>
          <p:nvPr/>
        </p:nvSpPr>
        <p:spPr>
          <a:xfrm>
            <a:off x="5257800" y="17557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Primera persona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4343400" y="2697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yo, mi, nosotros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7680960" y="155448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7909560" y="1783080"/>
            <a:ext cx="776880" cy="7768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2" descr="icons/star_white.png"/>
          <p:cNvPicPr/>
          <p:nvPr/>
        </p:nvPicPr>
        <p:blipFill>
          <a:blip r:embed="rId3"/>
          <a:stretch/>
        </p:blipFill>
        <p:spPr>
          <a:xfrm>
            <a:off x="8074080" y="194760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2"/>
          <p:cNvSpPr/>
          <p:nvPr/>
        </p:nvSpPr>
        <p:spPr>
          <a:xfrm>
            <a:off x="8823960" y="175572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Adjetivos calificativos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7909560" y="2697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feliz, maravilloso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48640" y="379476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777240" y="4023360"/>
            <a:ext cx="776880" cy="77688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3" descr="icons/comment_white.png"/>
          <p:cNvPicPr/>
          <p:nvPr/>
        </p:nvPicPr>
        <p:blipFill>
          <a:blip r:embed="rId4"/>
          <a:stretch/>
        </p:blipFill>
        <p:spPr>
          <a:xfrm>
            <a:off x="941760" y="418788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16"/>
          <p:cNvSpPr/>
          <p:nvPr/>
        </p:nvSpPr>
        <p:spPr>
          <a:xfrm>
            <a:off x="1691640" y="39960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Signos de exclamacion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777240" y="493776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¡Que alegria!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4114800" y="379476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9"/>
          <p:cNvSpPr/>
          <p:nvPr/>
        </p:nvSpPr>
        <p:spPr>
          <a:xfrm>
            <a:off x="4343400" y="4023360"/>
            <a:ext cx="776880" cy="7768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4" descr="icons/laugh_white.png"/>
          <p:cNvPicPr/>
          <p:nvPr/>
        </p:nvPicPr>
        <p:blipFill>
          <a:blip r:embed="rId5"/>
          <a:stretch/>
        </p:blipFill>
        <p:spPr>
          <a:xfrm>
            <a:off x="4507920" y="418788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20"/>
          <p:cNvSpPr/>
          <p:nvPr/>
        </p:nvSpPr>
        <p:spPr>
          <a:xfrm>
            <a:off x="5257800" y="39960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Diminutivos / aumentativos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4343400" y="493776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cerquita, grandote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7680960" y="3794760"/>
            <a:ext cx="3291480" cy="196560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7909560" y="4023360"/>
            <a:ext cx="776880" cy="776880"/>
          </a:xfrm>
          <a:prstGeom prst="ellipse">
            <a:avLst/>
          </a:prstGeom>
          <a:solidFill>
            <a:srgbClr val="2F3C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5" descr="icons/sad_white.png"/>
          <p:cNvPicPr/>
          <p:nvPr/>
        </p:nvPicPr>
        <p:blipFill>
          <a:blip r:embed="rId6"/>
          <a:stretch/>
        </p:blipFill>
        <p:spPr>
          <a:xfrm>
            <a:off x="8074080" y="418788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24"/>
          <p:cNvSpPr/>
          <p:nvPr/>
        </p:nvSpPr>
        <p:spPr>
          <a:xfrm>
            <a:off x="8823960" y="3996000"/>
            <a:ext cx="2011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Entonacion expresiva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7909560" y="493776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voz que transmite emocion</a:t>
            </a:r>
            <a:endParaRPr lang="es-CO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4864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Ejemplo de Funcion Emotiva</a:t>
            </a:r>
            <a:endParaRPr lang="es-CO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1280160" y="1417320"/>
            <a:ext cx="9600840" cy="2377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 rot="10800000">
            <a:off x="2377800" y="3676320"/>
            <a:ext cx="548280" cy="36540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1600200" y="1783080"/>
            <a:ext cx="822600" cy="82260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icons/quote_white.png"/>
          <p:cNvPicPr/>
          <p:nvPr/>
        </p:nvPicPr>
        <p:blipFill>
          <a:blip r:embed="rId1"/>
          <a:stretch/>
        </p:blipFill>
        <p:spPr>
          <a:xfrm>
            <a:off x="1783080" y="19659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4"/>
          <p:cNvSpPr/>
          <p:nvPr/>
        </p:nvSpPr>
        <p:spPr>
          <a:xfrm>
            <a:off x="2651760" y="1783080"/>
            <a:ext cx="7863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999"/>
              </a:lnSpc>
              <a:tabLst>
                <a:tab pos="0" algn="l"/>
              </a:tabLst>
            </a:pPr>
            <a:r>
              <a:rPr lang="en-US" sz="2300" b="1" i="1" u="none" strike="noStrike">
                <a:solidFill>
                  <a:srgbClr val="2F3C7E"/>
                </a:solidFill>
                <a:effectLst/>
                <a:uFillTx/>
                <a:latin typeface="Bookman Old Style"/>
                <a:ea typeface="Bookman Old Style"/>
              </a:rPr>
              <a:t>"¡Que feliz estoy hoy, por fin logre mi meta!"</a:t>
            </a:r>
            <a:endParaRPr lang="es-CO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"/>
          <p:cNvSpPr/>
          <p:nvPr/>
        </p:nvSpPr>
        <p:spPr>
          <a:xfrm>
            <a:off x="1280160" y="4343400"/>
            <a:ext cx="1005480" cy="100548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1" descr="icons/smile_white.png"/>
          <p:cNvPicPr/>
          <p:nvPr/>
        </p:nvPicPr>
        <p:blipFill>
          <a:blip r:embed="rId2"/>
          <a:stretch/>
        </p:blipFill>
        <p:spPr>
          <a:xfrm>
            <a:off x="1481400" y="4544640"/>
            <a:ext cx="603000" cy="60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6"/>
          <p:cNvSpPr/>
          <p:nvPr/>
        </p:nvSpPr>
        <p:spPr>
          <a:xfrm>
            <a:off x="2606040" y="431604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9E795"/>
                </a:solidFill>
                <a:effectLst/>
                <a:uFillTx/>
                <a:latin typeface="Bookman Old Style"/>
                <a:ea typeface="Bookman Old Style"/>
              </a:rPr>
              <a:t>¿Por que es funcion emotiva?</a:t>
            </a:r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2606040" y="4800600"/>
            <a:ext cx="365400" cy="365400"/>
          </a:xfrm>
          <a:prstGeom prst="ellipse">
            <a:avLst/>
          </a:prstGeom>
          <a:solidFill>
            <a:srgbClr val="3C4A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2" descr="icons/check_white.png"/>
          <p:cNvPicPr/>
          <p:nvPr/>
        </p:nvPicPr>
        <p:blipFill>
          <a:blip r:embed="rId3"/>
          <a:stretch/>
        </p:blipFill>
        <p:spPr>
          <a:xfrm>
            <a:off x="2688480" y="4883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8"/>
          <p:cNvSpPr/>
          <p:nvPr/>
        </p:nvSpPr>
        <p:spPr>
          <a:xfrm>
            <a:off x="3108960" y="475488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4E8FA"/>
                </a:solidFill>
                <a:effectLst/>
                <a:uFillTx/>
                <a:latin typeface="Calibri"/>
                <a:ea typeface="Calibri"/>
              </a:rPr>
              <a:t>El emisor expresa alegria, un sentimiento propio.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2606040" y="5349240"/>
            <a:ext cx="365400" cy="365400"/>
          </a:xfrm>
          <a:prstGeom prst="ellipse">
            <a:avLst/>
          </a:prstGeom>
          <a:solidFill>
            <a:srgbClr val="3C4A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3" descr="icons/check_white.png"/>
          <p:cNvPicPr/>
          <p:nvPr/>
        </p:nvPicPr>
        <p:blipFill>
          <a:blip r:embed="rId4"/>
          <a:stretch/>
        </p:blipFill>
        <p:spPr>
          <a:xfrm>
            <a:off x="2688480" y="54316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10"/>
          <p:cNvSpPr/>
          <p:nvPr/>
        </p:nvSpPr>
        <p:spPr>
          <a:xfrm>
            <a:off x="3108960" y="5303520"/>
            <a:ext cx="758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4E8FA"/>
                </a:solidFill>
                <a:effectLst/>
                <a:uFillTx/>
                <a:latin typeface="Calibri"/>
                <a:ea typeface="Calibri"/>
              </a:rPr>
              <a:t>Usa primera persona (estoy, logre) y signos de exclamacion.</a:t>
            </a:r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457200" y="656532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B94C8"/>
                </a:solidFill>
                <a:effectLst/>
                <a:uFillTx/>
                <a:latin typeface="Calibri"/>
                <a:ea typeface="Calibri"/>
              </a:rPr>
              <a:t>Funciones del Lenguaje  ·  Función Emotiva</a:t>
            </a:r>
            <a:endParaRPr lang="es-CO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8046720" y="3200400"/>
            <a:ext cx="5943240" cy="5943240"/>
          </a:xfrm>
          <a:prstGeom prst="ellipse">
            <a:avLst/>
          </a:prstGeom>
          <a:solidFill>
            <a:srgbClr val="3C4A96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-2011680" y="-2011680"/>
            <a:ext cx="4114440" cy="4114440"/>
          </a:xfrm>
          <a:prstGeom prst="ellipse">
            <a:avLst/>
          </a:prstGeom>
          <a:solidFill>
            <a:srgbClr val="F96167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184720" y="1371600"/>
            <a:ext cx="1828440" cy="1828440"/>
          </a:xfrm>
          <a:prstGeom prst="ellipse">
            <a:avLst/>
          </a:prstGeom>
          <a:solidFill>
            <a:srgbClr val="F961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0" descr="icons/heart_white.png"/>
          <p:cNvPicPr/>
          <p:nvPr/>
        </p:nvPicPr>
        <p:blipFill>
          <a:blip r:embed="rId1"/>
          <a:stretch/>
        </p:blipFill>
        <p:spPr>
          <a:xfrm>
            <a:off x="5568840" y="1755720"/>
            <a:ext cx="1060200" cy="106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3"/>
          <p:cNvSpPr/>
          <p:nvPr/>
        </p:nvSpPr>
        <p:spPr>
          <a:xfrm>
            <a:off x="1371600" y="3429000"/>
            <a:ext cx="9417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FUNCIONES DEL LENGUAJE</a:t>
            </a:r>
            <a:endParaRPr lang="es-CO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1371600" y="3931920"/>
            <a:ext cx="9417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9E795"/>
                </a:solidFill>
                <a:effectLst/>
                <a:uFillTx/>
                <a:latin typeface="Calibri"/>
                <a:ea typeface="Calibri"/>
              </a:rPr>
              <a:t>Funcion Emotiva o Expresiva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1371600" y="475488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7CDEF"/>
                </a:solidFill>
                <a:effectLst/>
                <a:uFillTx/>
                <a:latin typeface="Calibri"/>
                <a:ea typeface="Calibri"/>
              </a:rPr>
              <a:t>David, Joshan, Emmanuel  ·  SENA — CESGE, Regional Antioquia - 3406211</a:t>
            </a:r>
            <a:endParaRPr lang="es-CO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-1645920" y="-1645920"/>
            <a:ext cx="4205880" cy="4205880"/>
          </a:xfrm>
          <a:prstGeom prst="ellipse">
            <a:avLst/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9601200" y="4389120"/>
            <a:ext cx="4114440" cy="4114440"/>
          </a:xfrm>
          <a:prstGeom prst="ellipse">
            <a:avLst/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4956120" y="822960"/>
            <a:ext cx="2285640" cy="22856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0" descr="icons/handHeart_coral.png"/>
          <p:cNvPicPr/>
          <p:nvPr/>
        </p:nvPicPr>
        <p:blipFill>
          <a:blip r:embed="rId1"/>
          <a:stretch/>
        </p:blipFill>
        <p:spPr>
          <a:xfrm>
            <a:off x="5459040" y="132588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3"/>
          <p:cNvSpPr/>
          <p:nvPr/>
        </p:nvSpPr>
        <p:spPr>
          <a:xfrm>
            <a:off x="914400" y="3383280"/>
            <a:ext cx="10332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Bookman Old Style"/>
                <a:ea typeface="Bookman Old Style"/>
              </a:rPr>
              <a:t>¡Gracias por su atencion!</a:t>
            </a:r>
            <a:endParaRPr lang="es-CO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914400" y="41605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3F2"/>
                </a:solidFill>
                <a:effectLst/>
                <a:uFillTx/>
                <a:latin typeface="Calibri"/>
                <a:ea typeface="Calibri"/>
              </a:rPr>
              <a:t>Preguntas y comentarios son bienvenidos</a:t>
            </a:r>
            <a:endParaRPr lang="es-CO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5394960" y="4983480"/>
            <a:ext cx="502560" cy="502560"/>
          </a:xfrm>
          <a:prstGeom prst="ellipse">
            <a:avLst/>
          </a:prstGeom>
          <a:solidFill>
            <a:srgbClr val="FCA9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1" descr="icons/smile_white.png"/>
          <p:cNvPicPr/>
          <p:nvPr/>
        </p:nvPicPr>
        <p:blipFill>
          <a:blip r:embed="rId2"/>
          <a:stretch/>
        </p:blipFill>
        <p:spPr>
          <a:xfrm>
            <a:off x="5504760" y="50932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Shape 6"/>
          <p:cNvSpPr/>
          <p:nvPr/>
        </p:nvSpPr>
        <p:spPr>
          <a:xfrm>
            <a:off x="5989320" y="4983480"/>
            <a:ext cx="502560" cy="502560"/>
          </a:xfrm>
          <a:prstGeom prst="ellipse">
            <a:avLst/>
          </a:prstGeom>
          <a:solidFill>
            <a:srgbClr val="FCA9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2" descr="icons/star_white.png"/>
          <p:cNvPicPr/>
          <p:nvPr/>
        </p:nvPicPr>
        <p:blipFill>
          <a:blip r:embed="rId3"/>
          <a:stretch/>
        </p:blipFill>
        <p:spPr>
          <a:xfrm>
            <a:off x="6099120" y="5093280"/>
            <a:ext cx="282960" cy="28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7"/>
          <p:cNvSpPr/>
          <p:nvPr/>
        </p:nvSpPr>
        <p:spPr>
          <a:xfrm>
            <a:off x="914400" y="612648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E3E4"/>
                </a:solidFill>
                <a:effectLst/>
                <a:uFillTx/>
                <a:latin typeface="Calibri"/>
                <a:ea typeface="Calibri"/>
              </a:rPr>
              <a:t>David  ·  Funciones del Lenguaje — Funcion Emotiva</a:t>
            </a:r>
            <a:endParaRPr lang="es-CO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2026-08-19T20:06:40Z</dcterms:created>
  <dc:creator>PptxGenJS</dc:creator>
  <dc:description/>
  <dc:language>es-CO</dc:language>
  <cp:lastModifiedBy/>
  <dcterms:modified xsi:type="dcterms:W3CDTF">2026-08-19T15:08:57Z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